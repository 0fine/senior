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4" r:id="rId4"/>
    <p:sldId id="263" r:id="rId5"/>
    <p:sldId id="258" r:id="rId6"/>
    <p:sldId id="257" r:id="rId7"/>
    <p:sldId id="259" r:id="rId8"/>
    <p:sldId id="260" r:id="rId9"/>
    <p:sldId id="261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FEEF8"/>
    <a:srgbClr val="E0EDF5"/>
    <a:srgbClr val="FAE4E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1"/>
        <p:guide pos="387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477520" y="1324610"/>
            <a:ext cx="13688060" cy="318897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86055" y="2258060"/>
            <a:ext cx="1189926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2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解码癫痫脑电：</a:t>
            </a:r>
            <a:endParaRPr lang="zh-CN" altLang="en-US" sz="4200" b="1" i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zh-CN" altLang="en-US" sz="42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一种结合</a:t>
            </a:r>
            <a:r>
              <a:rPr lang="en-US" altLang="zh-CN" sz="42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SHAP</a:t>
            </a:r>
            <a:r>
              <a:rPr lang="zh-CN" altLang="en-US" sz="42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全局交互解释的优化机器学习方法</a:t>
            </a:r>
            <a:endParaRPr lang="zh-CN" altLang="en-US" sz="4200" b="1" i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81045" y="5429250"/>
            <a:ext cx="562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小组：周雨晴</a:t>
            </a:r>
            <a:r>
              <a:rPr lang="en-US" altLang="zh-CN"/>
              <a:t>B22040302020</a:t>
            </a:r>
            <a:r>
              <a:rPr lang="zh-CN" altLang="en-US"/>
              <a:t>，黄孝清</a:t>
            </a:r>
            <a:r>
              <a:rPr lang="en-US" altLang="zh-CN"/>
              <a:t>B22040302029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3"/>
          <p:cNvPicPr>
            <a:picLocks noChangeAspect="1"/>
          </p:cNvPicPr>
          <p:nvPr/>
        </p:nvPicPr>
        <p:blipFill>
          <a:blip r:embed="rId1"/>
          <a:srcRect l="6696" t="7002" r="5166" b="48211"/>
          <a:stretch>
            <a:fillRect/>
          </a:stretch>
        </p:blipFill>
        <p:spPr>
          <a:xfrm>
            <a:off x="219075" y="3781425"/>
            <a:ext cx="7080250" cy="2698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58574" t="52781" r="7053" b="8284"/>
          <a:stretch>
            <a:fillRect/>
          </a:stretch>
        </p:blipFill>
        <p:spPr>
          <a:xfrm>
            <a:off x="8123555" y="848995"/>
            <a:ext cx="3585210" cy="30460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数据集介绍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299325" y="3940175"/>
            <a:ext cx="4777105" cy="2569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just"/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特征流形分布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上图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charset="0"/>
              <a:buChar char="n"/>
            </a:pPr>
            <a:r>
              <a:rPr lang="en-US" altLang="zh-CN" sz="1400">
                <a:solidFill>
                  <a:schemeClr val="tx1"/>
                </a:solidFill>
              </a:rPr>
              <a:t>t-SNE </a:t>
            </a:r>
            <a:r>
              <a:rPr lang="zh-CN" altLang="en-US" sz="1400">
                <a:solidFill>
                  <a:schemeClr val="tx1"/>
                </a:solidFill>
              </a:rPr>
              <a:t>降维：将高维特征投影至二维平面，直观展示样本分布</a:t>
            </a:r>
            <a:endParaRPr lang="zh-CN" altLang="en-US" sz="140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n"/>
            </a:pPr>
            <a:r>
              <a:rPr lang="zh-CN" altLang="en-US" sz="1400">
                <a:solidFill>
                  <a:schemeClr val="tx1"/>
                </a:solidFill>
              </a:rPr>
              <a:t>分布规律：</a:t>
            </a:r>
            <a:r>
              <a:rPr lang="zh-CN" altLang="en-US" sz="1400" u="sng">
                <a:solidFill>
                  <a:schemeClr val="tx1"/>
                </a:solidFill>
              </a:rPr>
              <a:t>发作间期和</a:t>
            </a:r>
            <a:r>
              <a:rPr lang="zh-CN" altLang="en-US" sz="1400" u="sng">
                <a:solidFill>
                  <a:schemeClr val="tx1"/>
                </a:solidFill>
                <a:sym typeface="+mn-ea"/>
              </a:rPr>
              <a:t>发作前期</a:t>
            </a:r>
            <a:r>
              <a:rPr lang="zh-CN" altLang="en-US" sz="1400" u="sng">
                <a:solidFill>
                  <a:schemeClr val="tx1"/>
                </a:solidFill>
              </a:rPr>
              <a:t>聚集在中心</a:t>
            </a:r>
            <a:r>
              <a:rPr lang="zh-CN" altLang="en-US" sz="1400">
                <a:solidFill>
                  <a:schemeClr val="tx1"/>
                </a:solidFill>
              </a:rPr>
              <a:t>，发作期（红）分布在最外层，表明不同阶段在特征空间具有良好的可分性</a:t>
            </a:r>
            <a:endParaRPr lang="zh-CN" altLang="en-US" sz="140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n"/>
            </a:pPr>
            <a:endParaRPr lang="zh-CN" altLang="en-US" sz="1400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时域信号形态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 (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左图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)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charset="0"/>
              <a:buChar char="n"/>
            </a:pPr>
            <a:r>
              <a:rPr lang="zh-CN" altLang="en-US" sz="1400">
                <a:solidFill>
                  <a:schemeClr val="tx1"/>
                </a:solidFill>
              </a:rPr>
              <a:t>发作期表现出显著的高振幅和剧烈波动；</a:t>
            </a:r>
            <a:endParaRPr lang="zh-CN" altLang="en-US" sz="1400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n"/>
            </a:pPr>
            <a:r>
              <a:rPr lang="zh-CN" altLang="en-US" sz="1400">
                <a:solidFill>
                  <a:schemeClr val="tx1"/>
                </a:solidFill>
              </a:rPr>
              <a:t>发作前期相较于间期，波形复杂度和频率特征开始发生细微变化</a:t>
            </a:r>
            <a:endParaRPr lang="zh-CN" altLang="en-US" sz="1400">
              <a:solidFill>
                <a:schemeClr val="tx1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35915" y="857885"/>
            <a:ext cx="7374255" cy="2805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just">
              <a:buFont typeface="Wingdings" panose="05000000000000000000" charset="0"/>
              <a:buChar char="p"/>
            </a:pP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数据来源与对象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zh-CN" altLang="en-US">
                <a:solidFill>
                  <a:schemeClr val="tx1"/>
                </a:solidFill>
              </a:rPr>
              <a:t>数据采集自新德里神经与睡眠中心</a:t>
            </a:r>
            <a:r>
              <a:rPr lang="en-US" altLang="zh-CN">
                <a:solidFill>
                  <a:schemeClr val="tx1"/>
                </a:solidFill>
              </a:rPr>
              <a:t> (Neurology &amp; Sleep Centre, New Delhi) DOI</a:t>
            </a:r>
            <a:r>
              <a:rPr lang="zh-CN" altLang="en-US">
                <a:solidFill>
                  <a:schemeClr val="tx1"/>
                </a:solidFill>
              </a:rPr>
              <a:t>为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en-US" altLang="zh-CN" u="sng">
                <a:solidFill>
                  <a:schemeClr val="tx1"/>
                </a:solidFill>
              </a:rPr>
              <a:t>10.13140/RG.2.2.14280.32006</a:t>
            </a:r>
            <a:endParaRPr lang="en-US" altLang="zh-CN" u="sng">
              <a:solidFill>
                <a:schemeClr val="tx1"/>
              </a:solidFill>
            </a:endParaRPr>
          </a:p>
          <a:p>
            <a:pPr algn="just"/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charset="0"/>
              <a:buChar char="p"/>
            </a:pPr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sym typeface="+mn-ea"/>
              </a:rPr>
              <a:t>样本详情</a:t>
            </a:r>
            <a:endParaRPr lang="zh-CN" altLang="en-US" b="1">
              <a:solidFill>
                <a:schemeClr val="accent1">
                  <a:lumMod val="50000"/>
                </a:schemeClr>
              </a:solidFill>
              <a:sym typeface="+mn-ea"/>
            </a:endParaRPr>
          </a:p>
          <a:p>
            <a:pPr indent="0" algn="just">
              <a:buFont typeface="Wingdings" panose="05000000000000000000" charset="0"/>
              <a:buNone/>
            </a:pPr>
            <a:r>
              <a:rPr lang="zh-CN" altLang="en-US">
                <a:solidFill>
                  <a:schemeClr val="tx1"/>
                </a:solidFill>
              </a:rPr>
              <a:t>数据集包含</a:t>
            </a:r>
            <a:r>
              <a:rPr lang="en-US" altLang="zh-CN">
                <a:solidFill>
                  <a:schemeClr val="tx1"/>
                </a:solidFill>
              </a:rPr>
              <a:t>10 </a:t>
            </a:r>
            <a:r>
              <a:rPr lang="zh-CN" altLang="en-US">
                <a:solidFill>
                  <a:schemeClr val="tx1"/>
                </a:solidFill>
              </a:rPr>
              <a:t>名癫痫患者的脑电</a:t>
            </a:r>
            <a:r>
              <a:rPr lang="en-US" altLang="zh-CN">
                <a:solidFill>
                  <a:schemeClr val="tx1"/>
                </a:solidFill>
              </a:rPr>
              <a:t> (EEG) </a:t>
            </a:r>
            <a:r>
              <a:rPr lang="zh-CN" altLang="en-US">
                <a:solidFill>
                  <a:schemeClr val="tx1"/>
                </a:solidFill>
              </a:rPr>
              <a:t>时间序列记录；</a:t>
            </a:r>
            <a:endParaRPr lang="zh-CN" altLang="en-US">
              <a:solidFill>
                <a:schemeClr val="tx1"/>
              </a:solidFill>
            </a:endParaRPr>
          </a:p>
          <a:p>
            <a:pPr algn="just"/>
            <a:r>
              <a:rPr lang="zh-CN" altLang="en-US">
                <a:solidFill>
                  <a:schemeClr val="tx1"/>
                </a:solidFill>
              </a:rPr>
              <a:t>每个文件包含</a:t>
            </a:r>
            <a:r>
              <a:rPr lang="en-US" altLang="zh-CN">
                <a:solidFill>
                  <a:schemeClr val="tx1"/>
                </a:solidFill>
              </a:rPr>
              <a:t>1024</a:t>
            </a:r>
            <a:r>
              <a:rPr lang="zh-CN" altLang="en-US">
                <a:solidFill>
                  <a:schemeClr val="tx1"/>
                </a:solidFill>
              </a:rPr>
              <a:t>个采样点，对应时长</a:t>
            </a:r>
            <a:r>
              <a:rPr lang="en-US" altLang="zh-CN">
                <a:solidFill>
                  <a:schemeClr val="tx1"/>
                </a:solidFill>
              </a:rPr>
              <a:t>5.12</a:t>
            </a:r>
            <a:r>
              <a:rPr lang="zh-CN" altLang="en-US">
                <a:solidFill>
                  <a:schemeClr val="tx1"/>
                </a:solidFill>
              </a:rPr>
              <a:t>秒</a:t>
            </a:r>
            <a:endParaRPr lang="zh-CN" altLang="en-US">
              <a:solidFill>
                <a:schemeClr val="tx1"/>
              </a:solidFill>
            </a:endParaRPr>
          </a:p>
          <a:p>
            <a:pPr algn="just"/>
            <a:endParaRPr lang="zh-CN" altLang="en-US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 algn="just">
              <a:buFont typeface="Wingdings" panose="05000000000000000000" charset="0"/>
              <a:buChar char="p"/>
            </a:pP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数据被分割为三个阶段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algn="just"/>
            <a:r>
              <a:rPr lang="zh-CN" altLang="en-US">
                <a:solidFill>
                  <a:schemeClr val="tx1"/>
                </a:solidFill>
              </a:rPr>
              <a:t>发作前期</a:t>
            </a:r>
            <a:r>
              <a:rPr lang="en-US" altLang="zh-CN">
                <a:solidFill>
                  <a:schemeClr val="tx1"/>
                </a:solidFill>
              </a:rPr>
              <a:t> (Pre-ictal)</a:t>
            </a:r>
            <a:r>
              <a:rPr lang="zh-CN" altLang="en-US">
                <a:solidFill>
                  <a:schemeClr val="tx1"/>
                </a:solidFill>
              </a:rPr>
              <a:t>、发作间期</a:t>
            </a:r>
            <a:r>
              <a:rPr lang="en-US" altLang="zh-CN">
                <a:solidFill>
                  <a:schemeClr val="tx1"/>
                </a:solidFill>
              </a:rPr>
              <a:t> (Interictal)</a:t>
            </a:r>
            <a:r>
              <a:rPr lang="zh-CN" altLang="en-US">
                <a:solidFill>
                  <a:schemeClr val="tx1"/>
                </a:solidFill>
              </a:rPr>
              <a:t>、发作期</a:t>
            </a:r>
            <a:r>
              <a:rPr lang="en-US" altLang="zh-CN">
                <a:solidFill>
                  <a:schemeClr val="tx1"/>
                </a:solidFill>
              </a:rPr>
              <a:t> (Ictal)</a:t>
            </a:r>
            <a:endParaRPr lang="en-US" altLang="zh-CN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实验</a:t>
            </a:r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流程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53720" y="1191260"/>
            <a:ext cx="2409190" cy="2193290"/>
            <a:chOff x="608" y="2092"/>
            <a:chExt cx="3794" cy="3454"/>
          </a:xfrm>
        </p:grpSpPr>
        <p:sp>
          <p:nvSpPr>
            <p:cNvPr id="14" name="矩形 13"/>
            <p:cNvSpPr/>
            <p:nvPr/>
          </p:nvSpPr>
          <p:spPr>
            <a:xfrm>
              <a:off x="608" y="2092"/>
              <a:ext cx="3795" cy="3454"/>
            </a:xfrm>
            <a:prstGeom prst="rect">
              <a:avLst/>
            </a:prstGeom>
            <a:solidFill>
              <a:srgbClr val="E0EDF5"/>
            </a:solidFill>
            <a:ln>
              <a:solidFill>
                <a:srgbClr val="E0ED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066" y="2837"/>
              <a:ext cx="2879" cy="2484"/>
              <a:chOff x="700" y="2545"/>
              <a:chExt cx="2879" cy="2673"/>
            </a:xfrm>
            <a:solidFill>
              <a:schemeClr val="bg1"/>
            </a:solidFill>
          </p:grpSpPr>
          <p:sp>
            <p:nvSpPr>
              <p:cNvPr id="2" name="矩形 1"/>
              <p:cNvSpPr/>
              <p:nvPr/>
            </p:nvSpPr>
            <p:spPr>
              <a:xfrm>
                <a:off x="700" y="3485"/>
                <a:ext cx="2879" cy="793"/>
              </a:xfrm>
              <a:prstGeom prst="rect">
                <a:avLst/>
              </a:prstGeom>
              <a:grpFill/>
              <a:ln>
                <a:solidFill>
                  <a:srgbClr val="E0EDF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400">
                    <a:sym typeface="+mn-ea"/>
                  </a:rPr>
                  <a:t>发作前期</a:t>
                </a:r>
                <a:r>
                  <a:rPr lang="en-US" altLang="zh-CN" sz="1400">
                    <a:sym typeface="+mn-ea"/>
                  </a:rPr>
                  <a:t> (Preictal)</a:t>
                </a:r>
                <a:endParaRPr lang="zh-CN" altLang="en-US" sz="1400"/>
              </a:p>
            </p:txBody>
          </p:sp>
          <p:sp>
            <p:nvSpPr>
              <p:cNvPr id="3" name="矩形 2"/>
              <p:cNvSpPr/>
              <p:nvPr/>
            </p:nvSpPr>
            <p:spPr>
              <a:xfrm>
                <a:off x="700" y="2545"/>
                <a:ext cx="2879" cy="793"/>
              </a:xfrm>
              <a:prstGeom prst="rect">
                <a:avLst/>
              </a:prstGeom>
              <a:grpFill/>
              <a:ln>
                <a:solidFill>
                  <a:srgbClr val="E0EDF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400">
                    <a:sym typeface="+mn-ea"/>
                  </a:rPr>
                  <a:t>发作间期</a:t>
                </a:r>
                <a:r>
                  <a:rPr lang="en-US" altLang="zh-CN" sz="1400">
                    <a:sym typeface="+mn-ea"/>
                  </a:rPr>
                  <a:t> (Interictal)</a:t>
                </a:r>
                <a:endParaRPr lang="zh-CN" altLang="en-US" sz="1400"/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700" y="4425"/>
                <a:ext cx="2879" cy="793"/>
              </a:xfrm>
              <a:prstGeom prst="rect">
                <a:avLst/>
              </a:prstGeom>
              <a:grpFill/>
              <a:ln>
                <a:solidFill>
                  <a:srgbClr val="E0EDF5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400">
                    <a:sym typeface="+mn-ea"/>
                  </a:rPr>
                  <a:t>发作期</a:t>
                </a:r>
                <a:r>
                  <a:rPr lang="en-US" altLang="zh-CN" sz="1400">
                    <a:sym typeface="+mn-ea"/>
                  </a:rPr>
                  <a:t> (Ictal)</a:t>
                </a:r>
                <a:endParaRPr lang="zh-CN" altLang="en-US" sz="1400"/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1421" y="2136"/>
              <a:ext cx="2287" cy="59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癫痫数据集</a:t>
              </a:r>
              <a:endParaRPr lang="zh-CN" alt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19" name="右箭头 18"/>
          <p:cNvSpPr/>
          <p:nvPr/>
        </p:nvSpPr>
        <p:spPr>
          <a:xfrm>
            <a:off x="3161030" y="2132330"/>
            <a:ext cx="562610" cy="368300"/>
          </a:xfrm>
          <a:prstGeom prst="rightArrow">
            <a:avLst/>
          </a:prstGeom>
          <a:solidFill>
            <a:srgbClr val="E0EDF5"/>
          </a:solidFill>
          <a:ln>
            <a:solidFill>
              <a:srgbClr val="E0ED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" name="组合 21"/>
          <p:cNvGrpSpPr/>
          <p:nvPr/>
        </p:nvGrpSpPr>
        <p:grpSpPr>
          <a:xfrm>
            <a:off x="3921125" y="1236980"/>
            <a:ext cx="2633980" cy="2129790"/>
            <a:chOff x="5911" y="1948"/>
            <a:chExt cx="4148" cy="3354"/>
          </a:xfrm>
        </p:grpSpPr>
        <p:sp>
          <p:nvSpPr>
            <p:cNvPr id="20" name="矩形 19"/>
            <p:cNvSpPr/>
            <p:nvPr/>
          </p:nvSpPr>
          <p:spPr>
            <a:xfrm>
              <a:off x="5911" y="1948"/>
              <a:ext cx="4148" cy="3354"/>
            </a:xfrm>
            <a:prstGeom prst="rect">
              <a:avLst/>
            </a:prstGeom>
            <a:solidFill>
              <a:srgbClr val="E0EDF5"/>
            </a:solidFill>
            <a:ln>
              <a:solidFill>
                <a:srgbClr val="E0ED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just">
                <a:buFont typeface="Wingdings" panose="05000000000000000000" charset="0"/>
                <a:buChar char="n"/>
              </a:pP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随机抖动，模拟噪声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幅度缩放，模拟不同信号强度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解决小样本问题，防止过拟合，提高泛化能力</a:t>
              </a:r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6909" y="2074"/>
              <a:ext cx="19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数据增强</a:t>
              </a:r>
              <a:endParaRPr lang="zh-CN" alt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3" name="右箭头 22"/>
          <p:cNvSpPr/>
          <p:nvPr/>
        </p:nvSpPr>
        <p:spPr>
          <a:xfrm>
            <a:off x="6821805" y="2132330"/>
            <a:ext cx="562610" cy="368300"/>
          </a:xfrm>
          <a:prstGeom prst="rightArrow">
            <a:avLst/>
          </a:prstGeom>
          <a:solidFill>
            <a:srgbClr val="E0EDF5"/>
          </a:solidFill>
          <a:ln>
            <a:solidFill>
              <a:srgbClr val="E0ED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/>
        </p:nvGrpSpPr>
        <p:grpSpPr>
          <a:xfrm>
            <a:off x="7651750" y="1338580"/>
            <a:ext cx="3945786" cy="1892300"/>
            <a:chOff x="5911" y="1948"/>
            <a:chExt cx="4426" cy="2980"/>
          </a:xfrm>
        </p:grpSpPr>
        <p:sp>
          <p:nvSpPr>
            <p:cNvPr id="27" name="矩形 26"/>
            <p:cNvSpPr/>
            <p:nvPr/>
          </p:nvSpPr>
          <p:spPr>
            <a:xfrm>
              <a:off x="5911" y="1948"/>
              <a:ext cx="4426" cy="2980"/>
            </a:xfrm>
            <a:prstGeom prst="rect">
              <a:avLst/>
            </a:prstGeom>
            <a:solidFill>
              <a:srgbClr val="E0EDF5"/>
            </a:solidFill>
            <a:ln>
              <a:solidFill>
                <a:srgbClr val="E0ED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just">
                <a:buFont typeface="Wingdings" panose="05000000000000000000" charset="0"/>
                <a:buChar char="n"/>
              </a:pP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时域特征：波形统计，反映幅值变化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频域特征：能量分布，反映节律强弱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时频特征：动态演变，</a:t>
              </a:r>
              <a:r>
                <a:rPr lang="zh-CN" altLang="en-US" sz="1600">
                  <a:solidFill>
                    <a:schemeClr val="tx1"/>
                  </a:solidFill>
                </a:rPr>
                <a:t>捕捉局部瞬态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非线性特征：复杂混沌，量化系统无序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n"/>
              </a:pPr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7168" y="2074"/>
              <a:ext cx="19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多域特征</a:t>
              </a:r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提取</a:t>
              </a:r>
              <a:endParaRPr lang="zh-CN" alt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30" name="下箭头 29"/>
          <p:cNvSpPr/>
          <p:nvPr/>
        </p:nvSpPr>
        <p:spPr>
          <a:xfrm>
            <a:off x="9909810" y="3366770"/>
            <a:ext cx="389890" cy="433070"/>
          </a:xfrm>
          <a:prstGeom prst="downArrow">
            <a:avLst/>
          </a:prstGeom>
          <a:solidFill>
            <a:srgbClr val="E0EDF5"/>
          </a:solidFill>
          <a:ln>
            <a:solidFill>
              <a:srgbClr val="E0ED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8709025" y="4126865"/>
            <a:ext cx="3097830" cy="2129790"/>
            <a:chOff x="5911" y="1948"/>
            <a:chExt cx="3726" cy="3354"/>
          </a:xfrm>
        </p:grpSpPr>
        <p:sp>
          <p:nvSpPr>
            <p:cNvPr id="32" name="矩形 31"/>
            <p:cNvSpPr/>
            <p:nvPr/>
          </p:nvSpPr>
          <p:spPr>
            <a:xfrm>
              <a:off x="5911" y="1948"/>
              <a:ext cx="3726" cy="3354"/>
            </a:xfrm>
            <a:prstGeom prst="rect">
              <a:avLst/>
            </a:prstGeom>
            <a:solidFill>
              <a:srgbClr val="E0EDF5"/>
            </a:solidFill>
            <a:ln>
              <a:solidFill>
                <a:srgbClr val="E0ED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just">
                <a:buFont typeface="Wingdings" panose="05000000000000000000" charset="0"/>
                <a:buChar char="n"/>
              </a:pP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基分类器：</a:t>
              </a:r>
              <a:r>
                <a:rPr lang="en-US" altLang="zh-CN" sz="1600">
                  <a:solidFill>
                    <a:schemeClr val="tx1"/>
                  </a:solidFill>
                </a:rPr>
                <a:t>XGBoost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优化策略：贝叶斯优化</a:t>
              </a:r>
              <a:r>
                <a:rPr lang="en-US" altLang="zh-CN" sz="1600">
                  <a:solidFill>
                    <a:schemeClr val="tx1"/>
                  </a:solidFill>
                </a:rPr>
                <a:t> 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目的：自动搜索最优超参数，避免人工调参的盲目性。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训练验证：分层交叉验证</a:t>
              </a:r>
              <a:r>
                <a:rPr lang="en-US" altLang="zh-CN" sz="1600">
                  <a:solidFill>
                    <a:schemeClr val="tx1"/>
                  </a:solidFill>
                </a:rPr>
                <a:t> </a:t>
              </a:r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769" y="2074"/>
              <a:ext cx="200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优化模型构建</a:t>
              </a:r>
              <a:endParaRPr lang="zh-CN" alt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34" name="左箭头 33"/>
          <p:cNvSpPr/>
          <p:nvPr/>
        </p:nvSpPr>
        <p:spPr>
          <a:xfrm>
            <a:off x="7949565" y="4989830"/>
            <a:ext cx="483235" cy="404495"/>
          </a:xfrm>
          <a:prstGeom prst="leftArrow">
            <a:avLst/>
          </a:prstGeom>
          <a:solidFill>
            <a:srgbClr val="E0EDF5"/>
          </a:solidFill>
          <a:ln>
            <a:solidFill>
              <a:srgbClr val="E0ED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4763422" y="4126865"/>
            <a:ext cx="2909100" cy="2129790"/>
            <a:chOff x="6239" y="1948"/>
            <a:chExt cx="3499" cy="3354"/>
          </a:xfrm>
        </p:grpSpPr>
        <p:sp>
          <p:nvSpPr>
            <p:cNvPr id="36" name="矩形 35"/>
            <p:cNvSpPr/>
            <p:nvPr/>
          </p:nvSpPr>
          <p:spPr>
            <a:xfrm>
              <a:off x="6239" y="1948"/>
              <a:ext cx="3499" cy="3354"/>
            </a:xfrm>
            <a:prstGeom prst="rect">
              <a:avLst/>
            </a:prstGeom>
            <a:solidFill>
              <a:srgbClr val="E0EDF5"/>
            </a:solidFill>
            <a:ln>
              <a:solidFill>
                <a:srgbClr val="E0ED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just">
                <a:buFont typeface="Wingdings" panose="05000000000000000000" charset="0"/>
                <a:buChar char="n"/>
              </a:pP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测试集表现：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indent="0" algn="just">
                <a:buFont typeface="Wingdings" panose="05000000000000000000" charset="0"/>
                <a:buNone/>
              </a:pPr>
              <a:r>
                <a:rPr lang="en-US" altLang="zh-CN" sz="1600">
                  <a:solidFill>
                    <a:schemeClr val="tx1"/>
                  </a:solidFill>
                </a:rPr>
                <a:t>     A</a:t>
              </a:r>
              <a:r>
                <a:rPr lang="en-US" altLang="zh-CN" sz="1600">
                  <a:solidFill>
                    <a:schemeClr val="tx1"/>
                  </a:solidFill>
                </a:rPr>
                <a:t>ccuracy, F1-Score,</a:t>
              </a:r>
              <a:endParaRPr lang="en-US" altLang="zh-CN" sz="1600">
                <a:solidFill>
                  <a:schemeClr val="tx1"/>
                </a:solidFill>
              </a:endParaRPr>
            </a:p>
            <a:p>
              <a:pPr indent="0" algn="just">
                <a:buFont typeface="Wingdings" panose="05000000000000000000" charset="0"/>
                <a:buNone/>
              </a:pPr>
              <a:r>
                <a:rPr lang="en-US" altLang="zh-CN" sz="1600">
                  <a:solidFill>
                    <a:schemeClr val="tx1"/>
                  </a:solidFill>
                </a:rPr>
                <a:t>     Precision, Recall</a:t>
              </a:r>
              <a:r>
                <a:rPr lang="zh-CN" altLang="en-US" sz="1600">
                  <a:solidFill>
                    <a:schemeClr val="tx1"/>
                  </a:solidFill>
                </a:rPr>
                <a:t>。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核心图表：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indent="0" algn="just">
                <a:buFont typeface="Wingdings" panose="05000000000000000000" charset="0"/>
                <a:buNone/>
              </a:pPr>
              <a:r>
                <a:rPr lang="en-US" altLang="zh-CN" sz="1600">
                  <a:solidFill>
                    <a:schemeClr val="tx1"/>
                  </a:solidFill>
                </a:rPr>
                <a:t>     ROC</a:t>
              </a:r>
              <a:r>
                <a:rPr lang="zh-CN" altLang="en-US" sz="1600">
                  <a:solidFill>
                    <a:schemeClr val="tx1"/>
                  </a:solidFill>
                </a:rPr>
                <a:t>曲线</a:t>
              </a:r>
              <a:r>
                <a:rPr lang="en-US" altLang="zh-CN" sz="1600">
                  <a:solidFill>
                    <a:schemeClr val="tx1"/>
                  </a:solidFill>
                </a:rPr>
                <a:t>(AUC), </a:t>
              </a:r>
              <a:r>
                <a:rPr lang="zh-CN" altLang="en-US" sz="1600">
                  <a:solidFill>
                    <a:schemeClr val="tx1"/>
                  </a:solidFill>
                </a:rPr>
                <a:t>混淆矩阵</a:t>
              </a:r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260" y="2074"/>
              <a:ext cx="145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性能评估</a:t>
              </a:r>
              <a:endParaRPr lang="zh-CN" alt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38" name="左箭头 37"/>
          <p:cNvSpPr/>
          <p:nvPr/>
        </p:nvSpPr>
        <p:spPr>
          <a:xfrm>
            <a:off x="3921125" y="4989830"/>
            <a:ext cx="483235" cy="404495"/>
          </a:xfrm>
          <a:prstGeom prst="leftArrow">
            <a:avLst/>
          </a:prstGeom>
          <a:solidFill>
            <a:srgbClr val="E0EDF5"/>
          </a:solidFill>
          <a:ln>
            <a:solidFill>
              <a:srgbClr val="E0EDF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581065" y="3980180"/>
            <a:ext cx="3149377" cy="2537460"/>
            <a:chOff x="5950" y="1651"/>
            <a:chExt cx="3788" cy="3996"/>
          </a:xfrm>
        </p:grpSpPr>
        <p:sp>
          <p:nvSpPr>
            <p:cNvPr id="40" name="矩形 39"/>
            <p:cNvSpPr/>
            <p:nvPr/>
          </p:nvSpPr>
          <p:spPr>
            <a:xfrm>
              <a:off x="5950" y="1651"/>
              <a:ext cx="3788" cy="3996"/>
            </a:xfrm>
            <a:prstGeom prst="rect">
              <a:avLst/>
            </a:prstGeom>
            <a:solidFill>
              <a:srgbClr val="E0EDF5"/>
            </a:solidFill>
            <a:ln>
              <a:solidFill>
                <a:srgbClr val="E0EDF5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285750" indent="-285750" algn="just">
                <a:buFont typeface="Wingdings" panose="05000000000000000000" charset="0"/>
                <a:buChar char="n"/>
              </a:pP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核心方法：</a:t>
              </a:r>
              <a:r>
                <a:rPr lang="en-US" altLang="zh-CN" sz="1600">
                  <a:solidFill>
                    <a:schemeClr val="tx1"/>
                  </a:solidFill>
                </a:rPr>
                <a:t>SHAP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marL="285750" indent="-285750" algn="just">
                <a:buFont typeface="Wingdings" panose="05000000000000000000" charset="0"/>
                <a:buChar char="p"/>
              </a:pPr>
              <a:r>
                <a:rPr lang="zh-CN" altLang="en-US" sz="1600">
                  <a:solidFill>
                    <a:schemeClr val="tx1"/>
                  </a:solidFill>
                </a:rPr>
                <a:t>多维度分析：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indent="0" algn="just">
                <a:buFont typeface="Wingdings" panose="05000000000000000000" charset="0"/>
                <a:buNone/>
              </a:pPr>
              <a:r>
                <a:rPr lang="zh-CN" altLang="en-US" sz="1600">
                  <a:solidFill>
                    <a:schemeClr val="tx1"/>
                  </a:solidFill>
                </a:rPr>
                <a:t>全局解释：</a:t>
              </a:r>
              <a:r>
                <a:rPr lang="en-US" altLang="zh-CN" sz="1600">
                  <a:solidFill>
                    <a:schemeClr val="tx1"/>
                  </a:solidFill>
                </a:rPr>
                <a:t>Summary Plot(</a:t>
              </a:r>
              <a:r>
                <a:rPr lang="zh-CN" altLang="en-US" sz="1600">
                  <a:solidFill>
                    <a:schemeClr val="tx1"/>
                  </a:solidFill>
                </a:rPr>
                <a:t>蜂群图</a:t>
              </a:r>
              <a:r>
                <a:rPr lang="en-US" altLang="zh-CN" sz="1600">
                  <a:solidFill>
                    <a:schemeClr val="tx1"/>
                  </a:solidFill>
                </a:rPr>
                <a:t>)</a:t>
              </a:r>
              <a:r>
                <a:rPr lang="zh-CN" altLang="en-US" sz="1600">
                  <a:solidFill>
                    <a:schemeClr val="tx1"/>
                  </a:solidFill>
                </a:rPr>
                <a:t>揭示特征重要性与方向</a:t>
              </a:r>
              <a:endParaRPr lang="zh-CN" altLang="en-US" sz="1600">
                <a:solidFill>
                  <a:schemeClr val="tx1"/>
                </a:solidFill>
              </a:endParaRPr>
            </a:p>
            <a:p>
              <a:pPr indent="0" algn="just">
                <a:buFont typeface="Wingdings" panose="05000000000000000000" charset="0"/>
                <a:buNone/>
              </a:pPr>
              <a:r>
                <a:rPr lang="zh-CN" altLang="en-US" sz="1600">
                  <a:solidFill>
                    <a:schemeClr val="tx1"/>
                  </a:solidFill>
                </a:rPr>
                <a:t>交互分析：</a:t>
              </a:r>
              <a:r>
                <a:rPr lang="en-US" altLang="zh-CN" sz="1600">
                  <a:solidFill>
                    <a:schemeClr val="tx1"/>
                  </a:solidFill>
                </a:rPr>
                <a:t>Interaction Heatmap(</a:t>
              </a:r>
              <a:r>
                <a:rPr lang="zh-CN" altLang="en-US" sz="1600">
                  <a:solidFill>
                    <a:schemeClr val="tx1"/>
                  </a:solidFill>
                </a:rPr>
                <a:t>热力图</a:t>
              </a:r>
              <a:r>
                <a:rPr lang="en-US" altLang="zh-CN" sz="1600">
                  <a:solidFill>
                    <a:schemeClr val="tx1"/>
                  </a:solidFill>
                </a:rPr>
                <a:t>) </a:t>
              </a:r>
              <a:r>
                <a:rPr lang="zh-CN" altLang="en-US" sz="1600">
                  <a:solidFill>
                    <a:schemeClr val="tx1"/>
                  </a:solidFill>
                </a:rPr>
                <a:t>揭示特征间的协同与解耦。</a:t>
              </a:r>
              <a:endParaRPr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892" y="1813"/>
              <a:ext cx="1905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b="1">
                  <a:solidFill>
                    <a:schemeClr val="accent1">
                      <a:lumMod val="50000"/>
                    </a:schemeClr>
                  </a:solidFill>
                </a:rPr>
                <a:t>可解释性分析</a:t>
              </a:r>
              <a:endParaRPr lang="zh-CN" altLang="en-US" b="1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数据增强策略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8450" y="982980"/>
            <a:ext cx="5046345" cy="5632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背景与挑战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生物医学信号通常面临</a:t>
            </a:r>
            <a:r>
              <a:rPr lang="zh-CN" altLang="en-US" sz="1600" b="1" u="sng"/>
              <a:t>样本量有限</a:t>
            </a:r>
            <a:r>
              <a:rPr lang="zh-CN" altLang="en-US" sz="1600"/>
              <a:t>和</a:t>
            </a:r>
            <a:r>
              <a:rPr lang="zh-CN" altLang="en-US" sz="1600" b="1" u="sng"/>
              <a:t>类别不平衡</a:t>
            </a:r>
            <a:r>
              <a:rPr lang="en-US" altLang="zh-CN" sz="1600"/>
              <a:t> </a:t>
            </a:r>
            <a:r>
              <a:rPr lang="zh-CN" altLang="en-US" sz="1600"/>
              <a:t>的问题。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直接训练深度学习模型容易导致过拟合，泛化能力差。</a:t>
            </a:r>
            <a:endParaRPr lang="zh-CN" altLang="en-US" sz="1600"/>
          </a:p>
          <a:p>
            <a:endParaRPr lang="zh-CN" altLang="en-US"/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增强方法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仅针对训练集应用数据增强策略。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u="sng"/>
              <a:t>随机抖动</a:t>
            </a:r>
            <a:r>
              <a:rPr lang="en-US" altLang="zh-CN" sz="1600" b="1" u="sng"/>
              <a:t> (Random Jittering)</a:t>
            </a:r>
            <a:r>
              <a:rPr lang="zh-CN" altLang="en-US" sz="1600" b="1" u="sng"/>
              <a:t>：</a:t>
            </a:r>
            <a:r>
              <a:rPr lang="zh-CN" altLang="en-US" sz="1600"/>
              <a:t>模拟采集过程中的传感器噪声。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b="1" u="sng"/>
              <a:t>幅度缩放</a:t>
            </a:r>
            <a:r>
              <a:rPr lang="en-US" altLang="zh-CN" sz="1600" b="1" u="sng"/>
              <a:t> (Amplitude Scaling)</a:t>
            </a:r>
            <a:r>
              <a:rPr lang="zh-CN" altLang="en-US" sz="1600" b="1" u="sng"/>
              <a:t>：</a:t>
            </a:r>
            <a:r>
              <a:rPr lang="zh-CN" altLang="en-US" sz="1600"/>
              <a:t>模拟不同个体的信号强度差异。</a:t>
            </a:r>
            <a:endParaRPr lang="zh-CN" altLang="en-US" sz="1600"/>
          </a:p>
          <a:p>
            <a:endParaRPr lang="zh-CN" altLang="en-US"/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效果验证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波形保真</a:t>
            </a:r>
            <a:r>
              <a:rPr lang="en-US" altLang="zh-CN" sz="1600"/>
              <a:t> (</a:t>
            </a:r>
            <a:r>
              <a:rPr lang="zh-CN" altLang="en-US" sz="1600"/>
              <a:t>上图</a:t>
            </a:r>
            <a:r>
              <a:rPr lang="en-US" altLang="zh-CN" sz="1600"/>
              <a:t>)</a:t>
            </a:r>
            <a:r>
              <a:rPr lang="zh-CN" altLang="en-US" sz="1600"/>
              <a:t>：增强信号（红虚线）完美贴合原始信号（蓝线），保留了关键的时域特征。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微观扰动</a:t>
            </a:r>
            <a:r>
              <a:rPr lang="en-US" altLang="zh-CN" sz="1600"/>
              <a:t> (</a:t>
            </a:r>
            <a:r>
              <a:rPr lang="zh-CN" altLang="en-US" sz="1600"/>
              <a:t>左下图</a:t>
            </a:r>
            <a:r>
              <a:rPr lang="en-US" altLang="zh-CN" sz="1600"/>
              <a:t>)</a:t>
            </a:r>
            <a:r>
              <a:rPr lang="zh-CN" altLang="en-US" sz="1600"/>
              <a:t>：局部放大显示引入了必要的微小变化，增加了样本多样性。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分布一致</a:t>
            </a:r>
            <a:r>
              <a:rPr lang="en-US" altLang="zh-CN" sz="1600"/>
              <a:t> (</a:t>
            </a:r>
            <a:r>
              <a:rPr lang="zh-CN" altLang="en-US" sz="1600"/>
              <a:t>右下图</a:t>
            </a:r>
            <a:r>
              <a:rPr lang="en-US" altLang="zh-CN" sz="1600"/>
              <a:t>)</a:t>
            </a:r>
            <a:r>
              <a:rPr lang="zh-CN" altLang="en-US" sz="1600"/>
              <a:t>：</a:t>
            </a:r>
            <a:r>
              <a:rPr lang="en-US" altLang="zh-CN" sz="1600"/>
              <a:t>KDE </a:t>
            </a:r>
            <a:r>
              <a:rPr lang="zh-CN" altLang="en-US" sz="1600"/>
              <a:t>曲线重叠，证明增强操作未改变数据的统计分布特性，确保了数据的物理意义。</a:t>
            </a:r>
            <a:endParaRPr lang="zh-CN" altLang="en-US" sz="1600"/>
          </a:p>
        </p:txBody>
      </p:sp>
      <p:pic>
        <p:nvPicPr>
          <p:cNvPr id="3" name="图片 1" descr="outpu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2570" y="1091565"/>
            <a:ext cx="6782435" cy="53790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51752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最佳</a:t>
            </a:r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模型模型性能评估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5" name="图片 15" descr="3_multiclass_roc_cv"/>
          <p:cNvPicPr>
            <a:picLocks noChangeAspect="1"/>
          </p:cNvPicPr>
          <p:nvPr/>
        </p:nvPicPr>
        <p:blipFill>
          <a:blip r:embed="rId1"/>
          <a:srcRect l="66289" t="50000"/>
          <a:stretch>
            <a:fillRect/>
          </a:stretch>
        </p:blipFill>
        <p:spPr>
          <a:xfrm>
            <a:off x="6546850" y="1011555"/>
            <a:ext cx="5414010" cy="53543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5915" y="1270635"/>
            <a:ext cx="601218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总体表现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模型采用</a:t>
            </a:r>
            <a:r>
              <a:rPr lang="en-US" altLang="zh-CN" b="1" u="sng"/>
              <a:t>“XGBoost+</a:t>
            </a:r>
            <a:r>
              <a:rPr lang="zh-CN" altLang="en-US" b="1" u="sng"/>
              <a:t>贝叶斯优化</a:t>
            </a:r>
            <a:r>
              <a:rPr lang="en-US" altLang="zh-CN" b="1" u="sng"/>
              <a:t>”</a:t>
            </a:r>
            <a:r>
              <a:rPr lang="zh-CN" altLang="en-US"/>
              <a:t>架构。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各类别均表现出极高的分类能力，平均</a:t>
            </a:r>
            <a:r>
              <a:rPr lang="en-US" altLang="zh-CN"/>
              <a:t> AUC &gt; 0.90.</a:t>
            </a:r>
            <a:endParaRPr lang="en-US" altLang="zh-CN"/>
          </a:p>
          <a:p>
            <a:endParaRPr lang="zh-CN" altLang="en-US"/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类别详情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🔴</a:t>
            </a:r>
            <a:r>
              <a:rPr lang="en-US" altLang="zh-CN">
                <a:solidFill>
                  <a:srgbClr val="FF0000"/>
                </a:solidFill>
              </a:rPr>
              <a:t> </a:t>
            </a:r>
            <a:r>
              <a:rPr lang="zh-CN" altLang="en-US"/>
              <a:t>发作期</a:t>
            </a:r>
            <a:r>
              <a:rPr lang="en-US" altLang="zh-CN"/>
              <a:t> (Ictal): AUC = 0.99</a:t>
            </a:r>
            <a:r>
              <a:rPr lang="zh-CN" altLang="en-US"/>
              <a:t>，模型对发作状态的识别近乎完美。</a:t>
            </a:r>
            <a:endParaRPr lang="zh-CN" altLang="en-US"/>
          </a:p>
          <a:p>
            <a:r>
              <a:rPr lang="zh-CN" altLang="en-US">
                <a:solidFill>
                  <a:srgbClr val="0070C0"/>
                </a:solidFill>
              </a:rPr>
              <a:t>🔵</a:t>
            </a:r>
            <a:r>
              <a:rPr lang="en-US" altLang="zh-CN">
                <a:solidFill>
                  <a:srgbClr val="0070C0"/>
                </a:solidFill>
              </a:rPr>
              <a:t> </a:t>
            </a:r>
            <a:r>
              <a:rPr lang="zh-CN" altLang="en-US"/>
              <a:t>发作间期</a:t>
            </a:r>
            <a:r>
              <a:rPr lang="en-US" altLang="zh-CN"/>
              <a:t> (Interictal): AUC = 0.92</a:t>
            </a:r>
            <a:r>
              <a:rPr lang="zh-CN" altLang="en-US"/>
              <a:t>，表现出优秀的特异性。</a:t>
            </a:r>
            <a:endParaRPr lang="zh-CN" altLang="en-US"/>
          </a:p>
          <a:p>
            <a:r>
              <a:rPr lang="zh-CN" altLang="en-US">
                <a:solidFill>
                  <a:srgbClr val="7030A0"/>
                </a:solidFill>
                <a:sym typeface="+mn-ea"/>
              </a:rPr>
              <a:t>🔵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 </a:t>
            </a:r>
            <a:r>
              <a:rPr lang="zh-CN" altLang="en-US"/>
              <a:t>发作前期</a:t>
            </a:r>
            <a:r>
              <a:rPr lang="en-US" altLang="zh-CN"/>
              <a:t> (Preictal): AUC = 0.89</a:t>
            </a:r>
            <a:r>
              <a:rPr lang="zh-CN" altLang="en-US"/>
              <a:t>，这是预测难度最高的类别，但模型仍保持了很高的灵敏度。</a:t>
            </a:r>
            <a:endParaRPr lang="zh-CN" altLang="en-US"/>
          </a:p>
          <a:p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模型鲁棒性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阴影区域代表交叉验证中的标准差；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较窄的阴影带表明模型在不同数据折（</a:t>
            </a:r>
            <a:r>
              <a:rPr lang="en-US" altLang="zh-CN"/>
              <a:t>Fold</a:t>
            </a:r>
            <a:r>
              <a:rPr lang="zh-CN" altLang="en-US"/>
              <a:t>）上表现稳定，未出现过拟合。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>
            <a:off x="5478145" y="845820"/>
            <a:ext cx="6183630" cy="2292985"/>
            <a:chOff x="9745" y="1417"/>
            <a:chExt cx="9003" cy="3745"/>
          </a:xfrm>
        </p:grpSpPr>
        <p:pic>
          <p:nvPicPr>
            <p:cNvPr id="2" name="图片 1"/>
            <p:cNvPicPr/>
            <p:nvPr/>
          </p:nvPicPr>
          <p:blipFill>
            <a:blip r:embed="rId1"/>
            <a:srcRect l="3270" r="47354" b="78830"/>
            <a:stretch>
              <a:fillRect/>
            </a:stretch>
          </p:blipFill>
          <p:spPr>
            <a:xfrm>
              <a:off x="9745" y="1417"/>
              <a:ext cx="8905" cy="1842"/>
            </a:xfrm>
            <a:prstGeom prst="rect">
              <a:avLst/>
            </a:prstGeom>
          </p:spPr>
        </p:pic>
        <p:pic>
          <p:nvPicPr>
            <p:cNvPr id="3" name="图片 2"/>
            <p:cNvPicPr/>
            <p:nvPr/>
          </p:nvPicPr>
          <p:blipFill>
            <a:blip r:embed="rId1"/>
            <a:srcRect l="52646" r="5302" b="78830"/>
            <a:stretch>
              <a:fillRect/>
            </a:stretch>
          </p:blipFill>
          <p:spPr>
            <a:xfrm>
              <a:off x="11164" y="3320"/>
              <a:ext cx="7584" cy="1842"/>
            </a:xfrm>
            <a:prstGeom prst="rect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5542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最佳模型模型泛化能力评估</a:t>
            </a:r>
            <a:r>
              <a:rPr lang="en-US" altLang="zh-CN" sz="3200" b="1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zh-CN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9" name="图片 19" descr="Fig5_Final_Performance"/>
          <p:cNvPicPr>
            <a:picLocks noChangeAspect="1"/>
          </p:cNvPicPr>
          <p:nvPr/>
        </p:nvPicPr>
        <p:blipFill>
          <a:blip r:embed="rId2"/>
          <a:srcRect t="8335"/>
          <a:stretch>
            <a:fillRect/>
          </a:stretch>
        </p:blipFill>
        <p:spPr>
          <a:xfrm>
            <a:off x="151765" y="3227070"/>
            <a:ext cx="7256145" cy="337693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5915" y="1170305"/>
            <a:ext cx="5494655" cy="1353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综合性能指标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/>
              <a:t>模型在从未见过的测试集上表现出色，总准确率</a:t>
            </a:r>
            <a:r>
              <a:rPr lang="en-US" altLang="zh-CN" sz="1600"/>
              <a:t> (Accuracy) </a:t>
            </a:r>
            <a:r>
              <a:rPr lang="zh-CN" altLang="en-US" sz="1600"/>
              <a:t>达到</a:t>
            </a:r>
            <a:r>
              <a:rPr lang="en-US" altLang="zh-CN" sz="1600"/>
              <a:t>88.9%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600"/>
              <a:t>宏平均</a:t>
            </a:r>
            <a:r>
              <a:rPr lang="en-US" altLang="zh-CN" sz="1600"/>
              <a:t> AUROC </a:t>
            </a:r>
            <a:r>
              <a:rPr lang="zh-CN" altLang="en-US" sz="1600"/>
              <a:t>为</a:t>
            </a:r>
            <a:r>
              <a:rPr lang="en-US" altLang="zh-CN" sz="1600"/>
              <a:t>0.922</a:t>
            </a:r>
            <a:r>
              <a:rPr lang="zh-CN" altLang="en-US" sz="1600"/>
              <a:t>，精确率</a:t>
            </a:r>
            <a:r>
              <a:rPr lang="en-US" altLang="zh-CN" sz="1600"/>
              <a:t> (Precision) </a:t>
            </a:r>
            <a:r>
              <a:rPr lang="zh-CN" altLang="en-US" sz="1600"/>
              <a:t>为</a:t>
            </a:r>
            <a:r>
              <a:rPr lang="en-US" altLang="zh-CN" sz="1600"/>
              <a:t>90.9%</a:t>
            </a:r>
            <a:r>
              <a:rPr lang="zh-CN" altLang="en-US" sz="1600"/>
              <a:t>，证明了模型的泛化能力和低误报率。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7530465" y="3402965"/>
            <a:ext cx="4497070" cy="3014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ROC 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曲线分析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US" altLang="zh-CN">
              <a:solidFill>
                <a:schemeClr val="accent1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400">
                <a:solidFill>
                  <a:srgbClr val="FF0000"/>
                </a:solidFill>
              </a:rPr>
              <a:t>🔴</a:t>
            </a:r>
            <a:r>
              <a:rPr lang="en-US" altLang="zh-CN" sz="1400">
                <a:solidFill>
                  <a:srgbClr val="FF0000"/>
                </a:solidFill>
              </a:rPr>
              <a:t> </a:t>
            </a:r>
            <a:r>
              <a:rPr lang="zh-CN" altLang="en-US" sz="1400"/>
              <a:t>发作期</a:t>
            </a:r>
            <a:r>
              <a:rPr lang="en-US" altLang="zh-CN" sz="1400"/>
              <a:t> (Ictal) </a:t>
            </a:r>
            <a:r>
              <a:rPr lang="zh-CN" altLang="en-US" sz="1400"/>
              <a:t>和</a:t>
            </a:r>
            <a:r>
              <a:rPr lang="en-US" altLang="zh-CN" sz="1400"/>
              <a:t> </a:t>
            </a:r>
            <a:r>
              <a:rPr lang="zh-CN" altLang="en-US" sz="1400">
                <a:solidFill>
                  <a:srgbClr val="0070C0"/>
                </a:solidFill>
              </a:rPr>
              <a:t>🔵</a:t>
            </a:r>
            <a:r>
              <a:rPr lang="en-US" altLang="zh-CN" sz="1400">
                <a:solidFill>
                  <a:srgbClr val="0070C0"/>
                </a:solidFill>
              </a:rPr>
              <a:t> </a:t>
            </a:r>
            <a:r>
              <a:rPr lang="zh-CN" altLang="en-US" sz="1400"/>
              <a:t>发作间期</a:t>
            </a:r>
            <a:r>
              <a:rPr lang="en-US" altLang="zh-CN" sz="1400"/>
              <a:t> (Interictal) </a:t>
            </a:r>
            <a:r>
              <a:rPr lang="zh-CN" altLang="en-US" sz="1400"/>
              <a:t>的识别接近完美，</a:t>
            </a:r>
            <a:r>
              <a:rPr lang="en-US" altLang="zh-CN" sz="1400"/>
              <a:t>AUC </a:t>
            </a:r>
            <a:r>
              <a:rPr lang="zh-CN" altLang="en-US" sz="1400"/>
              <a:t>分别高达</a:t>
            </a:r>
            <a:r>
              <a:rPr lang="en-US" altLang="zh-CN" sz="1400"/>
              <a:t> 0.99 </a:t>
            </a:r>
            <a:r>
              <a:rPr lang="zh-CN" altLang="en-US" sz="1400"/>
              <a:t>和</a:t>
            </a:r>
            <a:r>
              <a:rPr lang="en-US" altLang="zh-CN" sz="1400"/>
              <a:t> 0.91</a:t>
            </a:r>
            <a:r>
              <a:rPr lang="zh-CN" altLang="en-US" sz="1400"/>
              <a:t>。</a:t>
            </a:r>
            <a:endParaRPr lang="zh-CN" altLang="en-US" sz="140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1400">
                <a:solidFill>
                  <a:srgbClr val="7030A0"/>
                </a:solidFill>
                <a:sym typeface="+mn-ea"/>
              </a:rPr>
              <a:t>🔵</a:t>
            </a:r>
            <a:r>
              <a:rPr lang="en-US" altLang="zh-CN" sz="1400">
                <a:solidFill>
                  <a:srgbClr val="7030A0"/>
                </a:solidFill>
                <a:sym typeface="+mn-ea"/>
              </a:rPr>
              <a:t> </a:t>
            </a:r>
            <a:r>
              <a:rPr lang="zh-CN" altLang="en-US" sz="1400"/>
              <a:t>发作前期</a:t>
            </a:r>
            <a:r>
              <a:rPr lang="en-US" altLang="zh-CN" sz="1400"/>
              <a:t> (Preictal) </a:t>
            </a:r>
            <a:r>
              <a:rPr lang="zh-CN" altLang="en-US" sz="1400"/>
              <a:t>作为最关键的预测类别，也达到了</a:t>
            </a:r>
            <a:r>
              <a:rPr lang="en-US" altLang="zh-CN" sz="1400"/>
              <a:t> 0.86 </a:t>
            </a:r>
            <a:r>
              <a:rPr lang="zh-CN" altLang="en-US" sz="1400"/>
              <a:t>的</a:t>
            </a:r>
            <a:r>
              <a:rPr lang="en-US" altLang="zh-CN" sz="1400"/>
              <a:t> AUC</a:t>
            </a:r>
            <a:r>
              <a:rPr lang="zh-CN" altLang="en-US" sz="1400"/>
              <a:t>，显示了模型对早期预警信号的有效捕捉。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混淆矩阵误差分析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发作期和发作间期的样本被</a:t>
            </a:r>
            <a:r>
              <a:rPr lang="en-US" altLang="zh-CN" sz="1400"/>
              <a:t>100%</a:t>
            </a:r>
            <a:r>
              <a:rPr lang="zh-CN" altLang="en-US" sz="1400"/>
              <a:t>正确分类。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挑战与误差来源</a:t>
            </a:r>
            <a:r>
              <a:rPr lang="en-US" altLang="zh-CN" sz="1400"/>
              <a:t>: </a:t>
            </a:r>
            <a:r>
              <a:rPr lang="zh-CN" altLang="en-US" sz="1400"/>
              <a:t>所有的分类错误均来源于发作前期的误判，召回率</a:t>
            </a:r>
            <a:r>
              <a:rPr lang="en-US" altLang="zh-CN" sz="1400"/>
              <a:t> 66.7%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主要的混淆发生在将其误判为发作间期（</a:t>
            </a:r>
            <a:r>
              <a:rPr lang="en-US" altLang="zh-CN" sz="1400"/>
              <a:t>4</a:t>
            </a:r>
            <a:r>
              <a:rPr lang="zh-CN" altLang="en-US" sz="1400"/>
              <a:t>例），这符合临床上两者信号差异细微的认知。</a:t>
            </a:r>
            <a:endParaRPr lang="zh-CN" altLang="en-US" sz="1400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模型决策机制解释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文本框 2" descr="7b0a202020202262756c6c6574223a20227b5c2263617465676f727949645c223a5c225c222c5c2274656d706c61746549645c223a32303233313731347d220a7d0a"/>
          <p:cNvSpPr txBox="1"/>
          <p:nvPr/>
        </p:nvSpPr>
        <p:spPr>
          <a:xfrm>
            <a:off x="8708390" y="1019175"/>
            <a:ext cx="320992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发作期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 (Ictal) 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核心特征：</a:t>
            </a:r>
            <a:r>
              <a:rPr lang="en-US" altLang="zh-CN" sz="1400"/>
              <a:t>std_mean (</a:t>
            </a:r>
            <a:r>
              <a:rPr lang="zh-CN" altLang="en-US" sz="1400"/>
              <a:t>标准差均值</a:t>
            </a:r>
            <a:r>
              <a:rPr lang="en-US" altLang="zh-CN" sz="1400"/>
              <a:t>) </a:t>
            </a:r>
            <a:r>
              <a:rPr lang="zh-CN" altLang="en-US" sz="1400"/>
              <a:t>和</a:t>
            </a:r>
            <a:r>
              <a:rPr lang="en-US" altLang="zh-CN" sz="1400"/>
              <a:t> rms_mean (</a:t>
            </a:r>
            <a:r>
              <a:rPr lang="zh-CN" altLang="en-US" sz="1400"/>
              <a:t>均方根</a:t>
            </a:r>
            <a:r>
              <a:rPr lang="en-US" altLang="zh-CN" sz="1400"/>
              <a:t>) </a:t>
            </a:r>
            <a:r>
              <a:rPr lang="zh-CN" altLang="en-US" sz="1400"/>
              <a:t>排名前二。</a:t>
            </a:r>
            <a:r>
              <a:rPr lang="en-US" altLang="zh-CN" sz="1400"/>
              <a:t>                </a:t>
            </a:r>
            <a:endParaRPr lang="en-US" altLang="zh-CN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决策逻辑：红色点（高特征值）集中在右侧（</a:t>
            </a:r>
            <a:r>
              <a:rPr lang="en-US" altLang="zh-CN" sz="1400"/>
              <a:t>SHAP &gt; 0</a:t>
            </a:r>
            <a:r>
              <a:rPr lang="zh-CN" altLang="en-US" sz="1400"/>
              <a:t>）。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生理意义：模型敏锐地捕捉到了癫痫发作时脑电信号剧烈波动、能量爆发的特点。高振幅直接判定为发作。</a:t>
            </a:r>
            <a:endParaRPr lang="zh-CN" altLang="en-US" sz="1400"/>
          </a:p>
          <a:p>
            <a:pPr>
              <a:buBlip>
                <a:blip r:embed="rId1"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</a:buBlip>
            </a:pP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4411345" y="1019175"/>
            <a:ext cx="3854450" cy="2542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sym typeface="+mn-ea"/>
              </a:rPr>
              <a:t>发作前期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sym typeface="+mn-ea"/>
              </a:rPr>
              <a:t> (Preictal)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>
                <a:sym typeface="+mn-ea"/>
              </a:rPr>
              <a:t>核心特征：</a:t>
            </a:r>
            <a:r>
              <a:rPr lang="en-US" altLang="zh-CN" sz="1400">
                <a:sym typeface="+mn-ea"/>
              </a:rPr>
              <a:t>std_mean </a:t>
            </a:r>
            <a:r>
              <a:rPr lang="zh-CN" altLang="en-US" sz="1400">
                <a:sym typeface="+mn-ea"/>
              </a:rPr>
              <a:t>排首位，但呈负相关（蓝点在右）。</a:t>
            </a:r>
            <a:r>
              <a:rPr lang="en-US" altLang="zh-CN" sz="1400">
                <a:sym typeface="+mn-ea"/>
              </a:rPr>
              <a:t>                                   </a:t>
            </a:r>
            <a:endParaRPr lang="en-US" altLang="zh-CN" sz="1400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>
                <a:sym typeface="+mn-ea"/>
              </a:rPr>
              <a:t>决策逻辑：低标准差（蓝色）倾向于预测为发作前期；同时高谱熵（</a:t>
            </a:r>
            <a:r>
              <a:rPr lang="en-US" altLang="zh-CN" sz="1400">
                <a:sym typeface="+mn-ea"/>
              </a:rPr>
              <a:t>spec_ent_mean </a:t>
            </a:r>
            <a:r>
              <a:rPr lang="zh-CN" altLang="en-US" sz="1400">
                <a:sym typeface="+mn-ea"/>
              </a:rPr>
              <a:t>红色）也倾向于发作前期。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>
                <a:sym typeface="+mn-ea"/>
              </a:rPr>
              <a:t>生理意义：信号振幅远小于发作期（通过低</a:t>
            </a:r>
            <a:r>
              <a:rPr lang="en-US" altLang="zh-CN" sz="1400">
                <a:sym typeface="+mn-ea"/>
              </a:rPr>
              <a:t> std </a:t>
            </a:r>
            <a:r>
              <a:rPr lang="zh-CN" altLang="en-US" sz="1400">
                <a:sym typeface="+mn-ea"/>
              </a:rPr>
              <a:t>区分），但其频域复杂度（熵）开始升高（通过高</a:t>
            </a:r>
            <a:r>
              <a:rPr lang="en-US" altLang="zh-CN" sz="1400">
                <a:sym typeface="+mn-ea"/>
              </a:rPr>
              <a:t>entropy</a:t>
            </a:r>
            <a:r>
              <a:rPr lang="zh-CN" altLang="en-US" sz="1400">
                <a:sym typeface="+mn-ea"/>
              </a:rPr>
              <a:t>区分），捕捉到了早期的异常动态。</a:t>
            </a:r>
            <a:endParaRPr lang="zh-CN" altLang="en-US" sz="1400"/>
          </a:p>
          <a:p>
            <a:endParaRPr lang="zh-CN" altLang="en-US" sz="1400"/>
          </a:p>
          <a:p>
            <a:endParaRPr lang="zh-CN" altLang="en-US" sz="1400"/>
          </a:p>
        </p:txBody>
      </p:sp>
      <p:pic>
        <p:nvPicPr>
          <p:cNvPr id="6" name="图片 5" descr="SHAP_Global_Summary"/>
          <p:cNvPicPr>
            <a:picLocks noChangeAspect="1"/>
          </p:cNvPicPr>
          <p:nvPr/>
        </p:nvPicPr>
        <p:blipFill>
          <a:blip r:embed="rId3"/>
          <a:srcRect l="33552" r="33359" b="-880"/>
          <a:stretch>
            <a:fillRect/>
          </a:stretch>
        </p:blipFill>
        <p:spPr>
          <a:xfrm>
            <a:off x="4685030" y="3371215"/>
            <a:ext cx="3138805" cy="3202940"/>
          </a:xfrm>
          <a:prstGeom prst="rect">
            <a:avLst/>
          </a:prstGeom>
        </p:spPr>
      </p:pic>
      <p:pic>
        <p:nvPicPr>
          <p:cNvPr id="10" name="图片 9" descr="SHAP_Global_Summary"/>
          <p:cNvPicPr>
            <a:picLocks noChangeAspect="1"/>
          </p:cNvPicPr>
          <p:nvPr/>
        </p:nvPicPr>
        <p:blipFill>
          <a:blip r:embed="rId3"/>
          <a:srcRect l="66963" r="195" b="-880"/>
          <a:stretch>
            <a:fillRect/>
          </a:stretch>
        </p:blipFill>
        <p:spPr>
          <a:xfrm>
            <a:off x="8707755" y="3371215"/>
            <a:ext cx="3115310" cy="3202940"/>
          </a:xfrm>
          <a:prstGeom prst="rect">
            <a:avLst/>
          </a:prstGeom>
        </p:spPr>
      </p:pic>
      <p:pic>
        <p:nvPicPr>
          <p:cNvPr id="14" name="图片 13" descr="SHAP_Global_Summary"/>
          <p:cNvPicPr>
            <a:picLocks noChangeAspect="1"/>
          </p:cNvPicPr>
          <p:nvPr/>
        </p:nvPicPr>
        <p:blipFill>
          <a:blip r:embed="rId3"/>
          <a:srcRect r="66763" b="-880"/>
          <a:stretch>
            <a:fillRect/>
          </a:stretch>
        </p:blipFill>
        <p:spPr>
          <a:xfrm>
            <a:off x="588010" y="3371215"/>
            <a:ext cx="3152775" cy="3202940"/>
          </a:xfrm>
          <a:prstGeom prst="rect">
            <a:avLst/>
          </a:prstGeom>
        </p:spPr>
      </p:pic>
      <p:sp>
        <p:nvSpPr>
          <p:cNvPr id="15" name="文本框 14" descr="7b0a202020202262756c6c6574223a20227b5c2263617465676f727949645c223a5c225c222c5c2274656d706c61746549645c223a32303233313731347d220a7d0a"/>
          <p:cNvSpPr txBox="1"/>
          <p:nvPr/>
        </p:nvSpPr>
        <p:spPr>
          <a:xfrm>
            <a:off x="448945" y="1019175"/>
            <a:ext cx="3342640" cy="2091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  <a:sym typeface="+mn-ea"/>
              </a:rPr>
              <a:t>发作间期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  <a:sym typeface="+mn-ea"/>
              </a:rPr>
              <a:t> (Interictal) 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>
                <a:sym typeface="+mn-ea"/>
              </a:rPr>
              <a:t>核心特征：</a:t>
            </a:r>
            <a:r>
              <a:rPr lang="en-US" altLang="zh-CN" sz="1400">
                <a:sym typeface="+mn-ea"/>
              </a:rPr>
              <a:t>NL_SampEn_mean (</a:t>
            </a:r>
            <a:r>
              <a:rPr lang="zh-CN" altLang="en-US" sz="1400">
                <a:sym typeface="+mn-ea"/>
              </a:rPr>
              <a:t>样本熵</a:t>
            </a:r>
            <a:r>
              <a:rPr lang="en-US" altLang="zh-CN" sz="1400">
                <a:sym typeface="+mn-ea"/>
              </a:rPr>
              <a:t>) </a:t>
            </a:r>
            <a:r>
              <a:rPr lang="zh-CN" altLang="en-US" sz="1400">
                <a:sym typeface="+mn-ea"/>
              </a:rPr>
              <a:t>和</a:t>
            </a:r>
            <a:r>
              <a:rPr lang="en-US" altLang="zh-CN" sz="1400">
                <a:sym typeface="+mn-ea"/>
              </a:rPr>
              <a:t> spec_ent_mean (</a:t>
            </a:r>
            <a:r>
              <a:rPr lang="zh-CN" altLang="en-US" sz="1400">
                <a:sym typeface="+mn-ea"/>
              </a:rPr>
              <a:t>谱熵</a:t>
            </a:r>
            <a:r>
              <a:rPr lang="en-US" altLang="zh-CN" sz="1400">
                <a:sym typeface="+mn-ea"/>
              </a:rPr>
              <a:t>)</a:t>
            </a:r>
            <a:r>
              <a:rPr lang="zh-CN" altLang="en-US" sz="1400">
                <a:sym typeface="+mn-ea"/>
              </a:rPr>
              <a:t>。</a:t>
            </a:r>
            <a:r>
              <a:rPr lang="en-US" altLang="zh-CN" sz="1400">
                <a:sym typeface="+mn-ea"/>
              </a:rPr>
              <a:t>                  </a:t>
            </a:r>
            <a:endParaRPr lang="en-US" altLang="zh-CN" sz="1400">
              <a:sym typeface="+mn-ea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>
                <a:sym typeface="+mn-ea"/>
              </a:rPr>
              <a:t>决策逻辑：红色点（高熵值）对应正向</a:t>
            </a:r>
            <a:r>
              <a:rPr lang="en-US" altLang="zh-CN" sz="1400">
                <a:sym typeface="+mn-ea"/>
              </a:rPr>
              <a:t> SHAP </a:t>
            </a:r>
            <a:r>
              <a:rPr lang="zh-CN" altLang="en-US" sz="1400">
                <a:sym typeface="+mn-ea"/>
              </a:rPr>
              <a:t>值。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>
                <a:sym typeface="+mn-ea"/>
              </a:rPr>
              <a:t>生理意义：正常（间期）的脑电信号通常表现为高随机性和高复杂度。模型正确地利用</a:t>
            </a:r>
            <a:r>
              <a:rPr lang="en-US" altLang="zh-CN" sz="1400">
                <a:sym typeface="+mn-ea"/>
              </a:rPr>
              <a:t>“</a:t>
            </a:r>
            <a:r>
              <a:rPr lang="zh-CN" altLang="en-US" sz="1400">
                <a:sym typeface="+mn-ea"/>
              </a:rPr>
              <a:t>高熵</a:t>
            </a:r>
            <a:r>
              <a:rPr lang="en-US" altLang="zh-CN" sz="1400">
                <a:sym typeface="+mn-ea"/>
              </a:rPr>
              <a:t>”</a:t>
            </a:r>
            <a:r>
              <a:rPr lang="zh-CN" altLang="en-US" sz="1400">
                <a:sym typeface="+mn-ea"/>
              </a:rPr>
              <a:t>来识别正常状态。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 sz="1400"/>
          </a:p>
        </p:txBody>
      </p:sp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" name="组合 8"/>
          <p:cNvGrpSpPr/>
          <p:nvPr/>
        </p:nvGrpSpPr>
        <p:grpSpPr>
          <a:xfrm>
            <a:off x="335915" y="111125"/>
            <a:ext cx="11624945" cy="692150"/>
            <a:chOff x="529" y="175"/>
            <a:chExt cx="18307" cy="1090"/>
          </a:xfrm>
          <a:solidFill>
            <a:schemeClr val="accent1">
              <a:lumMod val="50000"/>
            </a:schemeClr>
          </a:solidFill>
        </p:grpSpPr>
        <p:sp>
          <p:nvSpPr>
            <p:cNvPr id="7" name="矩形 6"/>
            <p:cNvSpPr/>
            <p:nvPr/>
          </p:nvSpPr>
          <p:spPr>
            <a:xfrm>
              <a:off x="529" y="175"/>
              <a:ext cx="171" cy="109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700" y="1147"/>
              <a:ext cx="18136" cy="1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676910" y="111125"/>
            <a:ext cx="619950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>
                <a:solidFill>
                  <a:schemeClr val="accent1">
                    <a:lumMod val="50000"/>
                  </a:schemeClr>
                </a:solidFill>
              </a:rPr>
              <a:t>特征交互与协同模式分析</a:t>
            </a:r>
            <a:endParaRPr lang="zh-CN" altLang="en-US" sz="3200" b="1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图片 2" descr="SHAP_Interaction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5" y="3422650"/>
            <a:ext cx="12033885" cy="3393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468360" y="854710"/>
            <a:ext cx="3611245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发作期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——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全局协同</a:t>
            </a:r>
            <a:endParaRPr lang="zh-CN" altLang="en-US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现象：热力图呈现整体深红色，绝大多数特征间相关系数</a:t>
            </a:r>
            <a:r>
              <a:rPr lang="en-US" altLang="zh-CN" sz="1400"/>
              <a:t> &gt; 0.8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解读：</a:t>
            </a:r>
            <a:r>
              <a:rPr lang="en-US" altLang="zh-CN" sz="1400"/>
              <a:t>std_mean (</a:t>
            </a:r>
            <a:r>
              <a:rPr lang="zh-CN" altLang="en-US" sz="1400"/>
              <a:t>标准差</a:t>
            </a:r>
            <a:r>
              <a:rPr lang="en-US" altLang="zh-CN" sz="1400"/>
              <a:t>)</a:t>
            </a:r>
            <a:r>
              <a:rPr lang="zh-CN" altLang="en-US" sz="1400"/>
              <a:t>、</a:t>
            </a:r>
            <a:r>
              <a:rPr lang="en-US" altLang="zh-CN" sz="1400"/>
              <a:t>rms_mean (</a:t>
            </a:r>
            <a:r>
              <a:rPr lang="zh-CN" altLang="en-US" sz="1400"/>
              <a:t>能量</a:t>
            </a:r>
            <a:r>
              <a:rPr lang="en-US" altLang="zh-CN" sz="1400"/>
              <a:t>) </a:t>
            </a:r>
            <a:r>
              <a:rPr lang="zh-CN" altLang="en-US" sz="1400"/>
              <a:t>与</a:t>
            </a:r>
            <a:r>
              <a:rPr lang="en-US" altLang="zh-CN" sz="1400"/>
              <a:t> line_length (</a:t>
            </a:r>
            <a:r>
              <a:rPr lang="zh-CN" altLang="en-US" sz="1400"/>
              <a:t>线长</a:t>
            </a:r>
            <a:r>
              <a:rPr lang="en-US" altLang="zh-CN" sz="1400"/>
              <a:t>) </a:t>
            </a:r>
            <a:r>
              <a:rPr lang="zh-CN" altLang="en-US" sz="1400"/>
              <a:t>达到了</a:t>
            </a:r>
            <a:r>
              <a:rPr lang="en-US" altLang="zh-CN" sz="1400"/>
              <a:t>1.0</a:t>
            </a:r>
            <a:r>
              <a:rPr lang="zh-CN" altLang="en-US" sz="1400"/>
              <a:t>的完全相关。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结论：癫痫发作表现为全方位的信号异常（能量爆发</a:t>
            </a:r>
            <a:r>
              <a:rPr lang="en-US" altLang="zh-CN" sz="1400"/>
              <a:t>+</a:t>
            </a:r>
            <a:r>
              <a:rPr lang="zh-CN" altLang="en-US" sz="1400"/>
              <a:t>复杂度剧变）。特征之间高度协同，构成了极强的鲁棒性，</a:t>
            </a:r>
            <a:r>
              <a:rPr lang="zh-CN" altLang="en-US" sz="1400"/>
              <a:t>即便缺少某几个特征，模型也能通过其他高度相关的特征准确识别发作。</a:t>
            </a:r>
            <a:endParaRPr lang="zh-CN" altLang="en-US" sz="1400"/>
          </a:p>
        </p:txBody>
      </p:sp>
      <p:sp>
        <p:nvSpPr>
          <p:cNvPr id="5" name="文本框 4"/>
          <p:cNvSpPr txBox="1"/>
          <p:nvPr/>
        </p:nvSpPr>
        <p:spPr>
          <a:xfrm>
            <a:off x="217170" y="854710"/>
            <a:ext cx="3695700" cy="2336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发作间期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——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复杂度与频段耦合</a:t>
            </a:r>
            <a:r>
              <a:rPr lang="en-US" altLang="zh-CN"/>
              <a:t> 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现象：呈现局部聚类。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解读：</a:t>
            </a:r>
            <a:r>
              <a:rPr lang="en-US" altLang="zh-CN" sz="1400"/>
              <a:t>NL_SampEn(</a:t>
            </a:r>
            <a:r>
              <a:rPr lang="zh-CN" altLang="en-US" sz="1400"/>
              <a:t>样本熵</a:t>
            </a:r>
            <a:r>
              <a:rPr lang="en-US" altLang="zh-CN" sz="1400"/>
              <a:t>)</a:t>
            </a:r>
            <a:r>
              <a:rPr lang="zh-CN" altLang="en-US" sz="1400"/>
              <a:t>与</a:t>
            </a:r>
            <a:r>
              <a:rPr lang="en-US" altLang="zh-CN" sz="1400"/>
              <a:t> psd_Alpha_mean(Alpha</a:t>
            </a:r>
            <a:r>
              <a:rPr lang="zh-CN" altLang="en-US" sz="1400"/>
              <a:t>波能量</a:t>
            </a:r>
            <a:r>
              <a:rPr lang="en-US" altLang="zh-CN" sz="1400"/>
              <a:t>)</a:t>
            </a:r>
            <a:r>
              <a:rPr lang="zh-CN" altLang="en-US" sz="1400"/>
              <a:t>呈现强相关</a:t>
            </a:r>
            <a:r>
              <a:rPr lang="en-US" altLang="zh-CN" sz="1400"/>
              <a:t>(0.80)</a:t>
            </a:r>
            <a:r>
              <a:rPr lang="zh-CN" altLang="en-US" sz="1400"/>
              <a:t>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结论：模型敏锐地捕捉到了正常脑电的生理基准：即静息态下，</a:t>
            </a:r>
            <a:r>
              <a:rPr lang="en-US" altLang="zh-CN" sz="1400"/>
              <a:t>Alpha</a:t>
            </a:r>
            <a:r>
              <a:rPr lang="zh-CN" altLang="en-US" sz="1400"/>
              <a:t>波的主导地位与脑电信号的高复杂度（熵）是紧密挂钩的。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4020185" y="854710"/>
            <a:ext cx="4448175" cy="25228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发作前期</a:t>
            </a:r>
            <a:r>
              <a:rPr lang="en-US" altLang="zh-CN" b="1">
                <a:solidFill>
                  <a:schemeClr val="accent1">
                    <a:lumMod val="50000"/>
                  </a:schemeClr>
                </a:solidFill>
              </a:rPr>
              <a:t>——</a:t>
            </a:r>
            <a:r>
              <a:rPr lang="zh-CN" altLang="en-US" b="1">
                <a:solidFill>
                  <a:schemeClr val="accent1">
                    <a:lumMod val="50000"/>
                  </a:schemeClr>
                </a:solidFill>
              </a:rPr>
              <a:t>能量与信息的解耦</a:t>
            </a:r>
            <a:endParaRPr lang="en-US" altLang="zh-CN" b="1">
              <a:solidFill>
                <a:schemeClr val="accent1">
                  <a:lumMod val="50000"/>
                </a:schemeClr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现象：呈现明显的棋盘格状分布，出现两组截然不同的特征群。</a:t>
            </a:r>
            <a:endParaRPr lang="zh-CN" altLang="en-US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解读：</a:t>
            </a:r>
            <a:endParaRPr lang="zh-CN" altLang="en-US" sz="1400"/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1400"/>
              <a:t>[</a:t>
            </a:r>
            <a:r>
              <a:rPr lang="zh-CN" altLang="en-US" sz="1400"/>
              <a:t>群组</a:t>
            </a:r>
            <a:r>
              <a:rPr lang="en-US" altLang="zh-CN" sz="1400"/>
              <a:t>A] </a:t>
            </a:r>
            <a:r>
              <a:rPr lang="zh-CN" altLang="en-US" sz="1400"/>
              <a:t>时域能量特征</a:t>
            </a:r>
            <a:r>
              <a:rPr lang="en-US" altLang="zh-CN" sz="1400"/>
              <a:t> (std, rms) </a:t>
            </a:r>
            <a:r>
              <a:rPr lang="zh-CN" altLang="en-US" sz="1400"/>
              <a:t>内部高度相关，</a:t>
            </a:r>
            <a:endParaRPr lang="zh-CN" altLang="en-US" sz="1400"/>
          </a:p>
          <a:p>
            <a:pPr lvl="1" indent="0">
              <a:buFont typeface="Wingdings" panose="05000000000000000000" charset="0"/>
              <a:buNone/>
            </a:pPr>
            <a:r>
              <a:rPr lang="en-US" altLang="zh-CN" sz="1400">
                <a:sym typeface="+mn-ea"/>
              </a:rPr>
              <a:t>[</a:t>
            </a:r>
            <a:r>
              <a:rPr lang="zh-CN" altLang="en-US" sz="1400">
                <a:sym typeface="+mn-ea"/>
              </a:rPr>
              <a:t>群组</a:t>
            </a:r>
            <a:r>
              <a:rPr lang="en-US" altLang="zh-CN" sz="1400">
                <a:sym typeface="+mn-ea"/>
              </a:rPr>
              <a:t>B] </a:t>
            </a:r>
            <a:r>
              <a:rPr lang="zh-CN" altLang="en-US" sz="1400"/>
              <a:t>频域熵特征</a:t>
            </a:r>
            <a:r>
              <a:rPr lang="en-US" altLang="zh-CN" sz="1400"/>
              <a:t> (spec_ent) </a:t>
            </a:r>
            <a:r>
              <a:rPr lang="zh-CN" altLang="en-US" sz="1400"/>
              <a:t>内部高度相关。</a:t>
            </a:r>
            <a:endParaRPr lang="zh-CN" altLang="en-US" sz="1400"/>
          </a:p>
          <a:p>
            <a:pPr lvl="1" indent="0">
              <a:buFont typeface="Wingdings" panose="05000000000000000000" charset="0"/>
              <a:buNone/>
            </a:pPr>
            <a:r>
              <a:rPr lang="zh-CN" altLang="en-US" sz="1400"/>
              <a:t>群组</a:t>
            </a:r>
            <a:r>
              <a:rPr lang="en-US" altLang="zh-CN" sz="1400"/>
              <a:t>A</a:t>
            </a:r>
            <a:r>
              <a:rPr lang="zh-CN" altLang="en-US" sz="1400"/>
              <a:t>与群组</a:t>
            </a:r>
            <a:r>
              <a:rPr lang="en-US" altLang="zh-CN" sz="1400"/>
              <a:t>B</a:t>
            </a:r>
            <a:r>
              <a:rPr lang="zh-CN" altLang="en-US" sz="1400"/>
              <a:t>之间互不相关</a:t>
            </a:r>
            <a:r>
              <a:rPr lang="en-US" altLang="zh-CN" sz="1400"/>
              <a:t> (std</a:t>
            </a:r>
            <a:r>
              <a:rPr lang="zh-CN" altLang="en-US" sz="1400"/>
              <a:t>与</a:t>
            </a:r>
            <a:r>
              <a:rPr lang="en-US" altLang="zh-CN" sz="1400"/>
              <a:t>spec_ent</a:t>
            </a:r>
            <a:r>
              <a:rPr lang="zh-CN" altLang="en-US" sz="1400"/>
              <a:t>相关性仅为</a:t>
            </a:r>
            <a:r>
              <a:rPr lang="en-US" altLang="zh-CN" sz="1400"/>
              <a:t> -0.17)</a:t>
            </a:r>
            <a:endParaRPr lang="en-US" altLang="zh-CN" sz="140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1400"/>
              <a:t>结论：发作前期的能量变化与信息熵变化是两个独立的维度。模型是通过同时考察这两个互不干扰的维度，才实现了对发作前期的精准捕捉。</a:t>
            </a:r>
            <a:endParaRPr lang="zh-CN" altLang="en-US" sz="1400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477520" y="1324610"/>
            <a:ext cx="13688060" cy="318897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scene3d>
            <a:camera prst="perspectiveFront"/>
            <a:lightRig rig="threePt" dir="t"/>
          </a:scene3d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48995" y="3722370"/>
            <a:ext cx="10494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解码癫痫脑电：一种结合</a:t>
            </a:r>
            <a:r>
              <a:rPr lang="en-US" altLang="zh-CN" sz="28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SHAP</a:t>
            </a:r>
            <a:r>
              <a:rPr lang="zh-CN" altLang="en-US" sz="2800" b="1" i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全局交互解释的优化机器学习方法</a:t>
            </a:r>
            <a:endParaRPr lang="zh-CN" altLang="en-US" sz="2800" b="1" i="1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281045" y="5429250"/>
            <a:ext cx="5629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小组：周雨晴</a:t>
            </a:r>
            <a:r>
              <a:rPr lang="en-US" altLang="zh-CN"/>
              <a:t>B22040302020</a:t>
            </a:r>
            <a:r>
              <a:rPr lang="zh-CN" altLang="en-US"/>
              <a:t>，黄孝清</a:t>
            </a:r>
            <a:r>
              <a:rPr lang="en-US" altLang="zh-CN"/>
              <a:t>B22040302029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3462020" y="2199005"/>
            <a:ext cx="544893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感谢您的</a:t>
            </a:r>
            <a:r>
              <a:rPr lang="zh-CN" altLang="en-US" sz="6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观看！</a:t>
            </a:r>
            <a:endParaRPr lang="zh-CN" altLang="en-US" sz="6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2900</Words>
  <Application>WPS 演示</Application>
  <PresentationFormat>宽屏</PresentationFormat>
  <Paragraphs>165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槑</cp:lastModifiedBy>
  <cp:revision>157</cp:revision>
  <dcterms:created xsi:type="dcterms:W3CDTF">2019-06-19T02:08:00Z</dcterms:created>
  <dcterms:modified xsi:type="dcterms:W3CDTF">2026-01-04T14:56:15Z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9D0E328A57AA4CAE893AAF7EA39DD77D_11</vt:lpwstr>
  </property>
</Properties>
</file>